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wdp" ContentType="image/vnd.ms-photo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ecede13ee7c45de" /><Relationship Type="http://schemas.openxmlformats.org/package/2006/relationships/metadata/core-properties" Target="/docProps/core.xml" Id="Rb2762e1a6eab497b" /><Relationship Type="http://schemas.openxmlformats.org/officeDocument/2006/relationships/extended-properties" Target="/docProps/app.xml" Id="R6d4e9537d6d44b56" /><Relationship Type="http://schemas.openxmlformats.org/officeDocument/2006/relationships/custom-properties" Target="/docProps/custom.xml" Id="R6b84dec13dc7482c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d4d1b6ec28a74753"/>
  </p:sldMasterIdLst>
  <p:sldIdLst>
    <p:sldId id="271" r:id="Ra0fabd97fcd64a5b"/>
    <p:sldId id="272" r:id="R287abc2a97f445b4"/>
    <p:sldId id="273" r:id="R630876e61b9f41a9"/>
    <p:sldId id="274" r:id="R4835a474866e494e"/>
    <p:sldId id="275" r:id="Rde67347e57da4d54"/>
    <p:sldId id="276" r:id="R791558835b104d5d"/>
    <p:sldId id="277" r:id="Re09b0493cb9445a9"/>
    <p:sldId id="278" r:id="R4de20a25d5d741b6"/>
    <p:sldId id="279" r:id="Rb9e55f3b09a64ab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a48be1d081ff4367" /><Relationship Type="http://schemas.openxmlformats.org/officeDocument/2006/relationships/viewProps" Target="/ppt/viewProps.xml" Id="R9d17a16286f1400d" /><Relationship Type="http://schemas.openxmlformats.org/officeDocument/2006/relationships/slideMaster" Target="/ppt/slideMasters/slideMaster1.xml" Id="Rd4d1b6ec28a74753" /><Relationship Type="http://schemas.openxmlformats.org/officeDocument/2006/relationships/theme" Target="/ppt/slideMasters/theme/theme1.xml" Id="Rf0c46345a9fc48af" /><Relationship Type="http://schemas.openxmlformats.org/officeDocument/2006/relationships/slide" Target="/ppt/slides/slide16.xml" Id="Ra0fabd97fcd64a5b" /><Relationship Type="http://schemas.openxmlformats.org/officeDocument/2006/relationships/slide" Target="/ppt/slides/slide17.xml" Id="R287abc2a97f445b4" /><Relationship Type="http://schemas.openxmlformats.org/officeDocument/2006/relationships/slide" Target="/ppt/slides/slide18.xml" Id="R630876e61b9f41a9" /><Relationship Type="http://schemas.openxmlformats.org/officeDocument/2006/relationships/slide" Target="/ppt/slides/slide19.xml" Id="R4835a474866e494e" /><Relationship Type="http://schemas.openxmlformats.org/officeDocument/2006/relationships/slide" Target="/ppt/slides/slide20.xml" Id="Rde67347e57da4d54" /><Relationship Type="http://schemas.openxmlformats.org/officeDocument/2006/relationships/slide" Target="/ppt/slides/slide21.xml" Id="R791558835b104d5d" /><Relationship Type="http://schemas.openxmlformats.org/officeDocument/2006/relationships/slide" Target="/ppt/slides/slide22.xml" Id="Re09b0493cb9445a9" /><Relationship Type="http://schemas.openxmlformats.org/officeDocument/2006/relationships/slide" Target="/ppt/slides/slide23.xml" Id="R4de20a25d5d741b6" /><Relationship Type="http://schemas.openxmlformats.org/officeDocument/2006/relationships/slide" Target="/ppt/slides/slide24.xml" Id="Rb9e55f3b09a64a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766c28adf47f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4e7cbc59b94127" /></Relationships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bea1ad6526ce44ad" /><Relationship Type="http://schemas.openxmlformats.org/officeDocument/2006/relationships/image" Target="/ppt/media/image2.png" Id="R560fa046c1a74589" /><Relationship Type="http://schemas.openxmlformats.org/officeDocument/2006/relationships/image" Target="/ppt/media/image3.png" Id="R6456c52b3eea4468" /><Relationship Type="http://schemas.microsoft.com/office/2007/relationships/hdphoto" Target="/ppt/slideMasters/udata/data.wdp" Id="R0157a0725ce948e9" /><Relationship Type="http://schemas.microsoft.com/office/2007/relationships/hdphoto" Target="/ppt/slideMasters/udata/data2.wdp" Id="R45c6ed62bc164599" /><Relationship Type="http://schemas.openxmlformats.org/officeDocument/2006/relationships/theme" Target="/ppt/slideMasters/theme/theme1.xml" Id="R311c7118ddbf4238" /><Relationship Type="http://schemas.openxmlformats.org/officeDocument/2006/relationships/slideLayout" Target="/ppt/slideLayouts/slideLayout5.xml" Id="R85ca086362274e77" /><Relationship Type="http://schemas.openxmlformats.org/officeDocument/2006/relationships/slideLayout" Target="/ppt/slideLayouts/slideLayout12.xml" Id="R87b65d4cff1c4cae" /></Relationships>
</file>

<file path=ppt/slideMasters/slideMaster1.xml><?xml version="1.0" encoding="utf-8"?>
<p:sldMaster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bea1ad6526ce44a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560fa046c1a74589">
            <a:extLst>
              <a:ext uri="{BEBA8EAE-BF5A-486C-A8C5-ECC9F3942E4B}">
                <a14:imgProps xmlns:a14="http://schemas.microsoft.com/office/drawing/2010/main">
                  <a14:imgLayer r:embed="R0157a0725ce948e9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6456c52b3eea4468">
            <a:extLst>
              <a:ext uri="{BEBA8EAE-BF5A-486C-A8C5-ECC9F3942E4B}">
                <a14:imgProps xmlns:a14="http://schemas.microsoft.com/office/drawing/2010/main">
                  <a14:imgLayer r:embed="R45c6ed62bc16459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85ca086362274e77"/>
    <p:sldLayoutId id="2147483660" r:id="R87b65d4cff1c4cae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4.png" Id="R2df091ecb8634d72" /><Relationship Type="http://schemas.openxmlformats.org/officeDocument/2006/relationships/image" Target="/ppt/media/image5.png" Id="R8f1a273986c0479f" /><Relationship Type="http://schemas.openxmlformats.org/officeDocument/2006/relationships/slideLayout" Target="/ppt/slideLayouts/slideLayout5.xml" Id="Rc5e84c0a5ef64d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d0a5e46447b441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9ceb16d3aa34b0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a2ba742a31f4db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ea8cfe0510d479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304e8139abe4eb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3b955f0c845457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5b58e0ede38411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6c1c5a58a494817" /></Relationships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96372" y="1861850"/>
            <a:ext cx="1142818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lang="en-IN" sz="3200" b="1" dirty="0">
                <a:solidFill>
                  <a:schemeClr val="bg1"/>
                </a:solidFill>
                <a:latin typeface="Calibri"/>
              </a:rPr>
              <a:t>Agentic AI-Based Data Centre Cooling Optimization and Thermal Anomaly Management System</a:t>
            </a:r>
          </a:p>
          <a:p>
            <a:pPr algn="ctr">
              <a:defRPr sz="3600" b="1">
                <a:solidFill>
                  <a:srgbClr val="1F2937"/>
                </a:solidFill>
                <a:latin typeface="Calibri"/>
              </a:defRPr>
            </a:pPr>
            <a:endParaRPr lang="en-IN" sz="3200" b="1" dirty="0">
              <a:solidFill>
                <a:schemeClr val="bg1"/>
              </a:solidFill>
              <a:latin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1F2937"/>
                </a:solidFill>
                <a:latin typeface="Calibri"/>
              </a:defRPr>
            </a:pPr>
            <a:r>
              <a:rPr lang="en-IN" sz="3200" dirty="0">
                <a:solidFill>
                  <a:schemeClr val="bg1"/>
                </a:solidFill>
              </a:rPr>
              <a:t>Pokala Sushma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1F2937"/>
                </a:solidFill>
                <a:latin typeface="Calibri"/>
              </a:defRPr>
            </a:pPr>
            <a:r>
              <a:rPr lang="en-IN" sz="3200" dirty="0">
                <a:solidFill>
                  <a:schemeClr val="bg1"/>
                </a:solidFill>
              </a:rPr>
              <a:t>T9936</a:t>
            </a:r>
            <a:endParaRPr sz="3200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2df091ecb8634d7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0270B3-61CD-E75B-6927-CC1AE1FC96F5}"/>
              </a:ext>
            </a:extLst>
          </p:cNvPr>
          <p:cNvPicPr>
            <a:picLocks noChangeAspect="1"/>
          </p:cNvPicPr>
          <p:nvPr/>
        </p:nvPicPr>
        <p:blipFill>
          <a:blip r:embed="R8f1a273986c0479f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269" y="5842487"/>
            <a:ext cx="24003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Data centers require continuous thermal monitoring as workload and heat generation vary.</a:t>
            </a:r>
            <a:endParaRPr lang="en-US" sz="3200" b="0" dirty="0">
              <a:solidFill>
                <a:srgbClr val="5583D1"/>
              </a:solidFill>
            </a:endParaRP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The system combines prediction, anomaly detection, diagnosis and cooling optimization.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A single Agentic AI layer coordinates specialized tools and generates an explainable recommendation.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PoC uses synthetic telemetry because a single suitable public rack-level dataset was not identified.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Predict future rack temperature and provide early thermal warning.</a:t>
            </a:r>
            <a:endParaRPr lang="en-US" sz="3200" b="0" dirty="0">
              <a:solidFill>
                <a:srgbClr val="5583D1"/>
              </a:solidFill>
            </a:endParaRP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Detect unusual telemetry patterns and classify severity.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Identify probable thermal root causes.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Recommend cooling actions considering thermal safety and energy impact.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Provide explainable AI recommendation to a human operator.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Telemetry simulation, validation, preprocessing and feature engineering.</a:t>
            </a:r>
            <a:endParaRPr lang="en-US" sz="3200" b="0" dirty="0">
              <a:solidFill>
                <a:srgbClr val="5583D1"/>
              </a:solidFill>
            </a:endParaRP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 err="1"/>
              <a:t>XGBoost</a:t>
            </a:r>
            <a:r>
              <a:rPr sz="3200" b="0" dirty="0"/>
              <a:t> prediction and Isolation Forest anomaly detection.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Root-cause diagnosis and cooling optimization.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Single local Agentic AI, </a:t>
            </a:r>
            <a:r>
              <a:rPr sz="3200" b="0" dirty="0" err="1"/>
              <a:t>FastAPI</a:t>
            </a:r>
            <a:r>
              <a:rPr sz="3200" b="0" dirty="0"/>
              <a:t>, </a:t>
            </a:r>
            <a:r>
              <a:rPr sz="3200" b="0" dirty="0" err="1"/>
              <a:t>Streamlit</a:t>
            </a:r>
            <a:r>
              <a:rPr sz="3200" b="0" dirty="0"/>
              <a:t> and Docker.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Automated testing and GitHub Actions CI.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Out of scope: direct physical cooling control, confidential L&amp;T data and production-scale deployment.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Reviewed data-center thermal management and temperature prediction.</a:t>
            </a:r>
            <a:endParaRPr lang="en-US" sz="3200" b="0" dirty="0">
              <a:solidFill>
                <a:srgbClr val="5583D1"/>
              </a:solidFill>
            </a:endParaRP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Reviewed ML approaches for infrastructure anomaly detection.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Reviewed energy-aware cooling optimization and AI decision-support.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Thermal behavior depends on multiple interacting telemetry variables.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Positioning: integrate prediction, detection, diagnosis and optimization in one decision-support layer.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Prediction provides early indication of thermal risk.</a:t>
            </a:r>
            <a:endParaRPr lang="en-US" sz="3200" b="0" dirty="0">
              <a:solidFill>
                <a:srgbClr val="5583D1"/>
              </a:solidFill>
            </a:endParaRPr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Unsupervised anomaly detection identifies unusual telemetry patterns.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Cooling decisions should balance thermal safety and cooling effort.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No single public dataset meeting required rack-level coverage and granularity was identified.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Controlled synthetic telemetry enables reproducible normal and abnormal scenarios.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Dataset: 5 racks × 500 records = 2,500 synthetic records.</a:t>
            </a:r>
            <a:endParaRPr lang="en-US" sz="3200" b="0" dirty="0">
              <a:solidFill>
                <a:srgbClr val="5583D1"/>
              </a:solidFill>
            </a:endParaRPr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Temperature prediction: MAE ≈ 0.097°C; RMSE ≈ 0.173°C.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Isolation Forest: 245 anomalies among 2,450 evaluated records.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Tool test: 30.5°C → 33.51°C predicted → high anomaly → reduced airflow → Cooling +15%.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Application: </a:t>
            </a:r>
            <a:r>
              <a:rPr sz="3200" b="0" dirty="0" err="1"/>
              <a:t>FastAPI</a:t>
            </a:r>
            <a:r>
              <a:rPr sz="3200" b="0" dirty="0"/>
              <a:t> + </a:t>
            </a:r>
            <a:r>
              <a:rPr sz="3200" b="0" dirty="0" err="1"/>
              <a:t>Streamlit</a:t>
            </a:r>
            <a:r>
              <a:rPr sz="3200" b="0" dirty="0"/>
              <a:t> + Docker.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CI: automated tests, ML artifact generation and Docker build validation.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124338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Module 1 – Data Pipeline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• Telemetry simulator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• Dataset validation, preprocessing and feature engineering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Module 2 – Intelligence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• </a:t>
            </a:r>
            <a:r>
              <a:rPr sz="3200" b="0" dirty="0" err="1"/>
              <a:t>XGBoost</a:t>
            </a:r>
            <a:r>
              <a:rPr sz="3200" b="0" dirty="0"/>
              <a:t> temperature prediction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• Isolation Forest anomaly detection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• Root-cause analysis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• Cooling optimization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8416" y="1314906"/>
            <a:ext cx="5181600" cy="4351338"/>
          </a:xfrm>
        </p:spPr>
        <p:txBody>
          <a:bodyPr wrap="square">
            <a:normAutofit fontScale="70000" lnSpcReduction="20000"/>
          </a:bodyPr>
          <a:lstStyle/>
          <a:p>
            <a:pPr marL="0" indent="0">
              <a:spcAft>
                <a:spcPts val="500"/>
              </a:spcAft>
              <a:buNone/>
              <a:defRPr sz="2100">
                <a:solidFill>
                  <a:srgbClr val="1F2937"/>
                </a:solidFill>
                <a:latin typeface="Calibri"/>
              </a:defRPr>
            </a:pPr>
            <a:endParaRPr dirty="0"/>
          </a:p>
          <a:p>
            <a:pPr marL="0" indent="0">
              <a:spcAft>
                <a:spcPts val="500"/>
              </a:spcAft>
              <a:buNone/>
              <a:defRPr sz="2100">
                <a:solidFill>
                  <a:srgbClr val="1F2937"/>
                </a:solidFill>
                <a:latin typeface="Calibri"/>
              </a:defRPr>
            </a:pPr>
            <a:r>
              <a:rPr sz="3800" b="0" dirty="0"/>
              <a:t>Single Agentic AI: decision-support layer orchestrates specialized ML and optimization tools.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800" b="0" dirty="0"/>
              <a:t>Llama 3.2:3b through </a:t>
            </a:r>
            <a:r>
              <a:rPr sz="3800" b="0" dirty="0" err="1"/>
              <a:t>Ollama</a:t>
            </a:r>
            <a:r>
              <a:rPr sz="3800" b="0" dirty="0"/>
              <a:t> for explanations.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800" b="0" dirty="0" err="1"/>
              <a:t>FastAPI</a:t>
            </a:r>
            <a:r>
              <a:rPr sz="3800" b="0" dirty="0"/>
              <a:t> + </a:t>
            </a:r>
            <a:r>
              <a:rPr sz="3800" b="0" dirty="0" err="1"/>
              <a:t>Uvicorn</a:t>
            </a:r>
            <a:r>
              <a:rPr sz="3800" b="0" dirty="0"/>
              <a:t>: REST service.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800" b="0" dirty="0" err="1"/>
              <a:t>Streamlit</a:t>
            </a:r>
            <a:r>
              <a:rPr sz="3800" b="0" dirty="0"/>
              <a:t>: operator dashboard and human approval.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800" b="0" dirty="0"/>
              <a:t>Docker + Compose: reproducible services.</a:t>
            </a:r>
          </a:p>
          <a:p>
            <a:pPr marL="0" indent="0">
              <a:spcAft>
                <a:spcPts val="500"/>
              </a:spcAft>
              <a:buNone/>
              <a:defRPr sz="2100">
                <a:solidFill>
                  <a:srgbClr val="1F2937"/>
                </a:solidFill>
                <a:latin typeface="Calibri"/>
              </a:defRPr>
            </a:pPr>
            <a:endParaRPr sz="2400" b="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C787190-2266-CA1A-44C4-9A0D34037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7829" y="1594385"/>
            <a:ext cx="5181600" cy="4351338"/>
          </a:xfrm>
        </p:spPr>
        <p:txBody>
          <a:bodyPr>
            <a:normAutofit fontScale="70000" lnSpcReduction="20000"/>
          </a:bodyPr>
          <a:lstStyle/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lang="en-IN" sz="3600" dirty="0" err="1">
                <a:latin typeface="Calibri (Body)"/>
              </a:rPr>
              <a:t>PyTest</a:t>
            </a:r>
            <a:r>
              <a:rPr lang="en-IN" sz="3600" dirty="0">
                <a:latin typeface="Calibri (Body)"/>
              </a:rPr>
              <a:t>: automated tests.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lang="en-IN" sz="3600" dirty="0">
                <a:latin typeface="Calibri (Body)"/>
              </a:rPr>
              <a:t>GitHub Actions: CI with data/model generation, tests and Docker build.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lang="en-IN" sz="3600" dirty="0">
                <a:latin typeface="Calibri (Body)"/>
              </a:rPr>
              <a:t>Next: PostgreSQL/</a:t>
            </a:r>
            <a:r>
              <a:rPr lang="en-IN" sz="3600" dirty="0" err="1">
                <a:latin typeface="Calibri (Body)"/>
              </a:rPr>
              <a:t>TimescaleDB</a:t>
            </a:r>
            <a:r>
              <a:rPr lang="en-IN" sz="3600" dirty="0">
                <a:latin typeface="Calibri (Body)"/>
              </a:rPr>
              <a:t> and CD/deployment.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600" b="1">
                <a:solidFill>
                  <a:srgbClr val="1F2937"/>
                </a:solidFill>
                <a:latin typeface="Calibri"/>
              </a:defRPr>
            </a:pPr>
            <a:r>
              <a:t>Module 3 – Agentic AI, API, Dashboard &amp; CI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874</Words>
  <Application>Microsoft Office PowerPoint</Application>
  <PresentationFormat>Widescreen</PresentationFormat>
  <Paragraphs>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(Body)</vt:lpstr>
      <vt:lpstr>Frutiger 45 bold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>HARI PRASATH</dc:creator>
  <lastModifiedBy>Pokala Sushma</lastModifiedBy>
  <revision>11</revision>
  <dcterms:created xsi:type="dcterms:W3CDTF">2024-05-13T10:33:11.0000000Z</dcterms:created>
  <dcterms:modified xsi:type="dcterms:W3CDTF">2026-10-06T03:23:12.7950000Z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/>
</file>